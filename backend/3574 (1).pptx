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9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0D827E-41D9-4508-BA2C-56D0D0FA2406}">
          <p14:sldIdLst>
            <p14:sldId id="256"/>
            <p14:sldId id="257"/>
            <p14:sldId id="258"/>
            <p14:sldId id="259"/>
            <p14:sldId id="260"/>
            <p14:sldId id="261"/>
            <p14:sldId id="268"/>
            <p14:sldId id="262"/>
            <p14:sldId id="263"/>
            <p14:sldId id="264"/>
            <p14:sldId id="265"/>
            <p14:sldId id="269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BC5AE-056C-45D3-B555-5B1BEBC52B7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A2A4C-F771-40E4-8285-A69FAD4C1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50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A2A4C-F771-40E4-8285-A69FAD4C18B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018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016C0-BA75-443C-A147-429F3A55C16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376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016C0-BA75-443C-A147-429F3A55C16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53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016C0-BA75-443C-A147-429F3A55C16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59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016C0-BA75-443C-A147-429F3A55C16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367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629D4-1DEE-81F0-CA03-60B4B3FE7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81968-277D-1DD5-8F57-01173D614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1A566-33BC-D4C1-153C-6ADCD7B8B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AEC56-9E95-26B2-23FF-40D1288DA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016C0-BA75-443C-A147-429F3A55C16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10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016C0-BA75-443C-A147-429F3A55C16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47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just pay know the impact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A2A4C-F771-40E4-8285-A69FAD4C18B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405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2383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Aptos"/>
              </a:rPr>
              <a:t>PAY2GROW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2463"/>
            <a:ext cx="6816852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500" b="1" dirty="0">
                <a:solidFill>
                  <a:srgbClr val="73E1A1"/>
                </a:solidFill>
                <a:latin typeface="Aptos"/>
              </a:rPr>
              <a:t>AI THAT KNOWS WHAT YOU CAN SAFELY AFFORD</a:t>
            </a:r>
            <a:endParaRPr sz="2500" b="1" dirty="0">
              <a:solidFill>
                <a:srgbClr val="73E1A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6492240" cy="27853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u="sng" dirty="0">
                <a:solidFill>
                  <a:srgbClr val="FFFFFF"/>
                </a:solidFill>
                <a:latin typeface="Aptos"/>
              </a:rPr>
              <a:t>KNOW WHAT YOU CAN AFFORD BEFORE YOU SPEND OR INVEST</a:t>
            </a:r>
            <a:r>
              <a:rPr sz="2500" b="0" u="sng" dirty="0">
                <a:solidFill>
                  <a:srgbClr val="FFFFFF"/>
                </a:solidFill>
                <a:latin typeface="Aptos"/>
              </a:rPr>
              <a:t>.</a:t>
            </a:r>
            <a:endParaRPr lang="en-US" sz="2500" b="0" u="sng" dirty="0">
              <a:solidFill>
                <a:srgbClr val="FFFFFF"/>
              </a:solidFill>
              <a:latin typeface="Aptos"/>
            </a:endParaRPr>
          </a:p>
          <a:p>
            <a:r>
              <a:rPr lang="en-US" sz="250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financial intelligence platform that understands your cash flow, goals and obligations to help you make smarter everyday money decisions. It is a </a:t>
            </a:r>
            <a:r>
              <a:rPr lang="en-US" sz="2500" b="1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layer </a:t>
            </a:r>
            <a:r>
              <a:rPr lang="en-US" sz="250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rather than another payment app.</a:t>
            </a:r>
            <a:endParaRPr sz="2500" i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5196297"/>
            <a:ext cx="3886200" cy="640080"/>
          </a:xfrm>
          <a:prstGeom prst="roundRect">
            <a:avLst/>
          </a:prstGeom>
          <a:solidFill>
            <a:srgbClr val="1E305B"/>
          </a:solidFill>
          <a:ln w="12700">
            <a:solidFill>
              <a:srgbClr val="1E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6958" y="5224117"/>
            <a:ext cx="376504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AAE6C2"/>
                </a:solidFill>
                <a:latin typeface="Aptos"/>
              </a:rPr>
              <a:t>FINTECH + AI + PERSONAL FINANCE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7516" y="658368"/>
            <a:ext cx="3886200" cy="5212080"/>
          </a:xfrm>
          <a:prstGeom prst="roundRect">
            <a:avLst/>
          </a:prstGeom>
          <a:solidFill>
            <a:srgbClr val="142248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107899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₹60,000 purchase?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82880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9C3D7"/>
                </a:solidFill>
                <a:latin typeface="Aptos"/>
              </a:rPr>
              <a:t>Balance says:  ₹20,751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33172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9C3D7"/>
                </a:solidFill>
                <a:latin typeface="Aptos"/>
              </a:rPr>
              <a:t>True affordability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679192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F9191"/>
                </a:solidFill>
                <a:latin typeface="Aptos"/>
              </a:rPr>
              <a:t>− ₹43,748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429000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Purchase would trigger high-cost credit
and delay the emergency-fund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709160"/>
            <a:ext cx="1965960" cy="329184"/>
          </a:xfrm>
          <a:prstGeom prst="roundRect">
            <a:avLst/>
          </a:prstGeom>
          <a:solidFill>
            <a:srgbClr val="274C40"/>
          </a:solidFill>
          <a:ln w="12700">
            <a:solidFill>
              <a:srgbClr val="274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4727448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91F0B4"/>
                </a:solidFill>
                <a:latin typeface="Aptos"/>
              </a:rPr>
              <a:t>WAIT / SAVE FIRST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32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roblem: </a:t>
            </a:r>
            <a:r>
              <a:rPr lang="en-US" sz="32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</a:t>
            </a:r>
            <a:r>
              <a:rPr sz="32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pay instantly, but can't see the future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490472"/>
            <a:ext cx="2139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A059"/>
                </a:solidFill>
                <a:latin typeface="Aptos"/>
              </a:rPr>
              <a:t>24,162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47672"/>
            <a:ext cx="21396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184"/>
                </a:solidFill>
                <a:latin typeface="Aptos"/>
              </a:rPr>
              <a:t>UPI transactions in FY 2025–26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25880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2152" y="1490472"/>
            <a:ext cx="2139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B49B2"/>
                </a:solidFill>
                <a:latin typeface="Aptos"/>
              </a:rPr>
              <a:t>66 Cr/day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947672"/>
            <a:ext cx="21396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184"/>
                </a:solidFill>
                <a:latin typeface="Aptos"/>
              </a:rPr>
              <a:t>Approx. daily UPI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325880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53912" y="1490472"/>
            <a:ext cx="2139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BE3A3A"/>
                </a:solidFill>
                <a:latin typeface="Aptos"/>
              </a:rPr>
              <a:t>45.5%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947672"/>
            <a:ext cx="21396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184"/>
                </a:solidFill>
                <a:latin typeface="Aptos"/>
              </a:rPr>
              <a:t>Household debt / GDP (June 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325880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05672" y="1490472"/>
            <a:ext cx="2139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A059"/>
                </a:solidFill>
                <a:latin typeface="Aptos"/>
              </a:rPr>
              <a:t>₹31K–32K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1947672"/>
            <a:ext cx="21396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184"/>
                </a:solidFill>
                <a:latin typeface="Aptos"/>
              </a:rPr>
              <a:t>Monthly SIP contribution run-rate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10058400" cy="3630168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8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Today’s user faces:</a:t>
            </a:r>
            <a:endParaRPr sz="2800" b="1" u="sng">
              <a:solidFill>
                <a:srgbClr val="171F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399" y="3639312"/>
            <a:ext cx="9577633" cy="2387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 b="0">
                <a:solidFill>
                  <a:srgbClr val="171F31"/>
                </a:solidFill>
                <a:latin typeface="Aptos"/>
              </a:defRPr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Easy digital payments → easier impulse spending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 b="0">
                <a:solidFill>
                  <a:srgbClr val="171F31"/>
                </a:solidFill>
                <a:latin typeface="Aptos"/>
              </a:defRPr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information scattered across multiple platforms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 b="0">
                <a:solidFill>
                  <a:srgbClr val="171F31"/>
                </a:solidFill>
                <a:latin typeface="Aptos"/>
              </a:defRPr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Existing budgeting tools are mostly backward-looking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 b="0">
                <a:solidFill>
                  <a:srgbClr val="171F31"/>
                </a:solidFill>
                <a:latin typeface="Aptos"/>
              </a:defRPr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Users judge affordability using current bank balance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 b="0">
                <a:solidFill>
                  <a:srgbClr val="171F31"/>
                </a:solidFill>
                <a:latin typeface="Aptos"/>
              </a:defRPr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deciding how much to save vs spend vs invest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350" b="0">
                <a:solidFill>
                  <a:srgbClr val="171F31"/>
                </a:solidFill>
                <a:latin typeface="Aptos"/>
              </a:defRPr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goals often get disrupted by unexpected purchases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2845" y="3200400"/>
            <a:ext cx="2900628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>
                <a:solidFill>
                  <a:srgbClr val="002060"/>
                </a:solidFill>
                <a:latin typeface="Aptos"/>
              </a:rPr>
              <a:t>Income</a:t>
            </a:r>
          </a:p>
          <a:p>
            <a:r>
              <a:rPr lang="en-US" b="1">
                <a:solidFill>
                  <a:srgbClr val="002060"/>
                </a:solidFill>
                <a:latin typeface="Aptos"/>
              </a:rPr>
              <a:t>  ↓</a:t>
            </a:r>
          </a:p>
          <a:p>
            <a:r>
              <a:rPr lang="en-US" b="1">
                <a:solidFill>
                  <a:srgbClr val="002060"/>
                </a:solidFill>
                <a:latin typeface="Aptos"/>
              </a:rPr>
              <a:t>Expenses + EMIs + Debt + Goals</a:t>
            </a:r>
          </a:p>
          <a:p>
            <a:r>
              <a:rPr lang="en-US" b="1">
                <a:solidFill>
                  <a:srgbClr val="002060"/>
                </a:solidFill>
                <a:latin typeface="Aptos"/>
              </a:rPr>
              <a:t>  ↓</a:t>
            </a:r>
          </a:p>
          <a:p>
            <a:r>
              <a:rPr lang="en-US" b="1">
                <a:solidFill>
                  <a:srgbClr val="002060"/>
                </a:solidFill>
                <a:latin typeface="Aptos"/>
              </a:rPr>
              <a:t>Current Balance</a:t>
            </a:r>
          </a:p>
          <a:p>
            <a:r>
              <a:rPr lang="en-US" b="1">
                <a:solidFill>
                  <a:srgbClr val="002060"/>
                </a:solidFill>
                <a:latin typeface="Aptos"/>
              </a:rPr>
              <a:t>  ↓</a:t>
            </a:r>
          </a:p>
          <a:p>
            <a:r>
              <a:rPr lang="en-US" b="1">
                <a:solidFill>
                  <a:srgbClr val="002060"/>
                </a:solidFill>
                <a:latin typeface="Aptos"/>
              </a:rPr>
              <a:t>❌ Balance ≠ Affordability</a:t>
            </a:r>
            <a:endParaRPr sz="1800" b="1">
              <a:solidFill>
                <a:srgbClr val="00206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77184"/>
                </a:solidFill>
                <a:latin typeface="Aptos"/>
              </a:rPr>
              <a:t>Research basis: Pay2Grow Deep Research Strategy • NPCI / RBI / AMFI / Ministry of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1052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77184"/>
                </a:solidFill>
                <a:latin typeface="Aptos"/>
              </a:rPr>
              <a:t>Prototype / simulated data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97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u="sng" dirty="0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3200" b="1" u="sng" dirty="0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Problem Matters Now in current Situation</a:t>
            </a:r>
            <a:r>
              <a:rPr lang="en-US" sz="2800" b="1" dirty="0">
                <a:solidFill>
                  <a:srgbClr val="171F31"/>
                </a:solidFill>
                <a:latin typeface="Aptos"/>
              </a:rPr>
              <a:t>.</a:t>
            </a:r>
            <a:endParaRPr sz="2800" b="1" dirty="0">
              <a:solidFill>
                <a:srgbClr val="171F3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212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u="sng" dirty="0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India's financial stack has matured</a:t>
            </a:r>
            <a:r>
              <a:rPr sz="2100" b="1" u="sng" dirty="0">
                <a:solidFill>
                  <a:srgbClr val="171F31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39" y="1828800"/>
            <a:ext cx="502394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2029968"/>
            <a:ext cx="685800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37773"/>
            <a:ext cx="685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DA059"/>
                </a:solidFill>
                <a:latin typeface="Aptos"/>
              </a:rPr>
              <a:t>UPI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0221" y="1881315"/>
            <a:ext cx="3931919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171F31"/>
                </a:solidFill>
                <a:latin typeface="Aptos"/>
              </a:rPr>
              <a:t>24,162 Cr+ </a:t>
            </a:r>
            <a:r>
              <a:rPr lang="en-US" sz="1400" dirty="0">
                <a:solidFill>
                  <a:srgbClr val="171F31"/>
                </a:solidFill>
                <a:latin typeface="Aptos"/>
              </a:rPr>
              <a:t>transactions in FY 2025-26 </a:t>
            </a:r>
          </a:p>
          <a:p>
            <a:pPr algn="l"/>
            <a:r>
              <a:rPr lang="en-US" sz="1400" dirty="0">
                <a:solidFill>
                  <a:srgbClr val="171F31"/>
                </a:solidFill>
                <a:latin typeface="Aptos"/>
              </a:rPr>
              <a:t>Everyday payments generate rich financial behavior data</a:t>
            </a:r>
            <a:endParaRPr sz="1400" dirty="0">
              <a:solidFill>
                <a:srgbClr val="171F31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298448" y="2596896"/>
            <a:ext cx="0" cy="219456"/>
          </a:xfrm>
          <a:prstGeom prst="line">
            <a:avLst/>
          </a:prstGeom>
          <a:ln w="1905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39" y="2816352"/>
            <a:ext cx="502394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3017520"/>
            <a:ext cx="685800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025325"/>
            <a:ext cx="685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DA059"/>
                </a:solidFill>
                <a:latin typeface="Aptos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0221" y="2850695"/>
            <a:ext cx="3771899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ptos"/>
              </a:rPr>
              <a:t>2.1B+</a:t>
            </a:r>
            <a:r>
              <a:rPr lang="en-US" sz="1400" b="1" dirty="0">
                <a:latin typeface="Aptos"/>
              </a:rPr>
              <a:t> </a:t>
            </a:r>
            <a:r>
              <a:rPr lang="en-US" sz="1400" dirty="0">
                <a:latin typeface="Aptos"/>
              </a:rPr>
              <a:t>Accounts enabled on Account  Aggregator ecosystem .</a:t>
            </a:r>
            <a:r>
              <a:rPr lang="en-IN" sz="1400" dirty="0"/>
              <a:t>Consent-based financial data can feed a unified financial view.</a:t>
            </a:r>
            <a:endParaRPr lang="en-US" sz="1400" b="1" dirty="0"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298448" y="3584448"/>
            <a:ext cx="0" cy="219456"/>
          </a:xfrm>
          <a:prstGeom prst="line">
            <a:avLst/>
          </a:prstGeom>
          <a:ln w="1905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39" y="3803904"/>
            <a:ext cx="502394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" y="4005072"/>
            <a:ext cx="685800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012876"/>
            <a:ext cx="685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DA059"/>
                </a:solidFill>
                <a:latin typeface="Aptos"/>
              </a:rPr>
              <a:t>SIP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856290"/>
            <a:ext cx="37033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1" dirty="0">
                <a:solidFill>
                  <a:srgbClr val="171F31"/>
                </a:solidFill>
                <a:latin typeface="Aptos"/>
              </a:rPr>
              <a:t> </a:t>
            </a:r>
            <a:r>
              <a:rPr lang="en-IN" sz="1400" b="1" dirty="0"/>
              <a:t>9.6 Cr+ active SIP accounts</a:t>
            </a:r>
            <a:br>
              <a:rPr lang="en-IN" sz="1400" dirty="0"/>
            </a:br>
            <a:r>
              <a:rPr lang="en-IN" sz="1400" dirty="0"/>
              <a:t>Systematic investing is becoming part of everyday financial planning.</a:t>
            </a:r>
            <a:endParaRPr sz="1400" dirty="0">
              <a:solidFill>
                <a:srgbClr val="171F31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298448" y="4572000"/>
            <a:ext cx="0" cy="219456"/>
          </a:xfrm>
          <a:prstGeom prst="line">
            <a:avLst/>
          </a:prstGeom>
          <a:ln w="1905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39" y="4791456"/>
            <a:ext cx="5023947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0120" y="4992624"/>
            <a:ext cx="685800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000429"/>
            <a:ext cx="685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DA059"/>
                </a:solidFill>
                <a:latin typeface="Aptos"/>
              </a:rP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9364" y="4825554"/>
            <a:ext cx="417423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b="1" dirty="0"/>
              <a:t>AI for Financial Intelligence</a:t>
            </a:r>
            <a:br>
              <a:rPr lang="en-IN" sz="1400" dirty="0"/>
            </a:br>
            <a:r>
              <a:rPr lang="en-IN" sz="1400" dirty="0"/>
              <a:t>Complex financial data can be converted into simple, actionable insights for better decision-making.</a:t>
            </a:r>
            <a:endParaRPr sz="1400" dirty="0">
              <a:solidFill>
                <a:srgbClr val="171F31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48400" y="1138428"/>
            <a:ext cx="5212080" cy="4892040"/>
          </a:xfrm>
          <a:prstGeom prst="roundRect">
            <a:avLst/>
          </a:prstGeom>
          <a:solidFill>
            <a:srgbClr val="0B1637"/>
          </a:solidFill>
          <a:ln w="12700">
            <a:solidFill>
              <a:srgbClr val="2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36180" y="1521113"/>
            <a:ext cx="44805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this enables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7040" y="2108133"/>
            <a:ext cx="443484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91F0B4"/>
                </a:solidFill>
                <a:latin typeface="Aptos"/>
              </a:defRPr>
            </a:pPr>
            <a:r>
              <a:rPr dirty="0"/>
              <a:t>Consent-based financial context</a:t>
            </a:r>
          </a:p>
          <a:p>
            <a:pPr>
              <a:spcAft>
                <a:spcPts val="800"/>
              </a:spcAft>
              <a:defRPr sz="1350" b="0">
                <a:solidFill>
                  <a:srgbClr val="FFFFFF"/>
                </a:solidFill>
                <a:latin typeface="Aptos"/>
              </a:defRPr>
            </a:pPr>
            <a:r>
              <a:rPr dirty="0"/>
              <a:t>Consolidated balances, recurring obligations, debt and goals can feed one decision engine.</a:t>
            </a:r>
          </a:p>
          <a:p>
            <a:pPr>
              <a:spcAft>
                <a:spcPts val="800"/>
              </a:spcAft>
              <a:defRPr sz="1350" b="1">
                <a:solidFill>
                  <a:srgbClr val="91F0B4"/>
                </a:solidFill>
                <a:latin typeface="Aptos"/>
              </a:defRPr>
            </a:pPr>
            <a:r>
              <a:rPr dirty="0"/>
              <a:t>Forward</a:t>
            </a:r>
            <a:r>
              <a:rPr lang="en-US" dirty="0"/>
              <a:t> and confident </a:t>
            </a:r>
            <a:r>
              <a:rPr dirty="0"/>
              <a:t>looking decisions</a:t>
            </a:r>
          </a:p>
          <a:p>
            <a:pPr>
              <a:spcAft>
                <a:spcPts val="800"/>
              </a:spcAft>
              <a:defRPr sz="1350" b="0">
                <a:solidFill>
                  <a:srgbClr val="FFFFFF"/>
                </a:solidFill>
                <a:latin typeface="Aptos"/>
              </a:defRPr>
            </a:pPr>
            <a:r>
              <a:rPr dirty="0"/>
              <a:t>Move from “you spent ₹X” to “this purchase changes your next 90 days.”</a:t>
            </a:r>
          </a:p>
          <a:p>
            <a:pPr>
              <a:spcAft>
                <a:spcPts val="800"/>
              </a:spcAft>
              <a:defRPr sz="1350" b="1">
                <a:solidFill>
                  <a:srgbClr val="91F0B4"/>
                </a:solidFill>
                <a:latin typeface="Aptos"/>
              </a:defRPr>
            </a:pPr>
            <a:r>
              <a:rPr dirty="0"/>
              <a:t>Explainable AI</a:t>
            </a:r>
          </a:p>
          <a:p>
            <a:pPr>
              <a:spcAft>
                <a:spcPts val="800"/>
              </a:spcAft>
              <a:defRPr sz="1350" b="0">
                <a:solidFill>
                  <a:srgbClr val="FFFFFF"/>
                </a:solidFill>
                <a:latin typeface="Aptos"/>
              </a:defRPr>
            </a:pPr>
            <a:r>
              <a:rPr dirty="0"/>
              <a:t>Use deterministic math for money; use </a:t>
            </a:r>
            <a:r>
              <a:rPr b="1" dirty="0"/>
              <a:t>an LLM </a:t>
            </a:r>
            <a:r>
              <a:rPr dirty="0"/>
              <a:t>only to explain the result.</a:t>
            </a:r>
            <a:r>
              <a:rPr lang="en-US" dirty="0"/>
              <a:t> User still lacks real-time guidance on </a:t>
            </a:r>
            <a:r>
              <a:rPr lang="en-US" b="1" dirty="0"/>
              <a:t>Save vs Spend vs Invest</a:t>
            </a:r>
          </a:p>
          <a:p>
            <a:pPr>
              <a:spcAft>
                <a:spcPts val="800"/>
              </a:spcAft>
              <a:defRPr sz="135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 “</a:t>
            </a:r>
            <a:r>
              <a:rPr lang="en-US" b="1" dirty="0"/>
              <a:t>INDIA HAS THE FINANCIAL RAILS BUT PAY2GROW ADDS THE INTELLIGENCE.”</a:t>
            </a:r>
            <a:endParaRPr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9235440" y="6510528"/>
            <a:ext cx="23774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endParaRPr sz="850" b="0">
              <a:solidFill>
                <a:srgbClr val="677184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1852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8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8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Introducing </a:t>
            </a:r>
            <a:r>
              <a:rPr sz="28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Pay2Grow</a:t>
            </a:r>
            <a:endParaRPr lang="en-US" sz="2800" b="1" u="sng">
              <a:solidFill>
                <a:srgbClr val="171F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u="sng">
              <a:solidFill>
                <a:srgbClr val="171F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2600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Pay2Grow converts financial data into actionable</a:t>
            </a:r>
          </a:p>
          <a:p>
            <a:pPr algn="r"/>
            <a:r>
              <a:rPr lang="en-IN" sz="2600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decisions</a:t>
            </a:r>
            <a:endParaRPr lang="en-US" sz="2600">
              <a:solidFill>
                <a:srgbClr val="171F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800" b="1">
              <a:solidFill>
                <a:srgbClr val="171F31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334208" y="3454895"/>
            <a:ext cx="7656688" cy="2219969"/>
          </a:xfrm>
          <a:prstGeom prst="roundRect">
            <a:avLst/>
          </a:prstGeom>
          <a:solidFill>
            <a:srgbClr val="ECF9F1"/>
          </a:solidFill>
          <a:ln w="12700">
            <a:solidFill>
              <a:srgbClr val="C4E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31757" y="3543741"/>
            <a:ext cx="1371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50" b="1">
                <a:solidFill>
                  <a:srgbClr val="1DA059"/>
                </a:solidFill>
                <a:latin typeface="Aptos"/>
              </a:rPr>
              <a:t> </a:t>
            </a:r>
            <a:r>
              <a:rPr lang="en-US" sz="1600" b="1" u="sng">
                <a:solidFill>
                  <a:srgbClr val="1DA0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sz="1600" b="1" u="sng">
                <a:solidFill>
                  <a:srgbClr val="1DA0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USP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08" y="4200898"/>
            <a:ext cx="6907019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100" b="1">
                <a:solidFill>
                  <a:srgbClr val="171F31"/>
                </a:solidFill>
                <a:latin typeface="Aptos"/>
              </a:rPr>
              <a:t>“Don’t just track where your money went. But actually understand where today’s decision takes you”</a:t>
            </a:r>
            <a:endParaRPr sz="2100" b="1">
              <a:solidFill>
                <a:srgbClr val="171F31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77184"/>
                </a:solidFill>
                <a:latin typeface="Aptos"/>
              </a:rPr>
              <a:t>Pay2Grow • Hackathon Concept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651052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77184"/>
                </a:solidFill>
                <a:latin typeface="Aptos"/>
              </a:rPr>
              <a:t>Prototype / simulated data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3397FE9-FFE6-8E06-FD7D-3F6CE1B7E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5151"/>
            <a:ext cx="4318967" cy="68128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01 — UnderstandConnect financial data through consent-based sources or use simulated data.0uu2 — AnalyzeAI categorizes transactions and identifies:IncomeFixed expensesVariable expensesDebtRecurring paymentsSavings behaviour03 — PredictForecast upcoming cash flow and financial obligations.04 — SimulateCalculate the impact of a potential purchase or investment.05 — DecideRecommend:BUY / WAIT / SAVE / INVEST06 — LearnContinuously update the financial profile based on new behaviour.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3848" y="77520"/>
            <a:ext cx="109728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user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858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77184"/>
                </a:solidFill>
                <a:latin typeface="Aptos"/>
              </a:rPr>
              <a:t>UI concept • generated visual • simulated financial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6510528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77184"/>
                </a:solidFill>
                <a:latin typeface="Aptos"/>
              </a:rPr>
              <a:t>Prototype / simulated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B3C4F-DDC9-D6CC-604A-68986EBA7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08015"/>
            <a:ext cx="11877772" cy="5903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</a:t>
            </a:r>
            <a:r>
              <a:rPr sz="28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feature: “Can I Afford This?”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743200" cy="4434840"/>
          </a:xfrm>
          <a:prstGeom prst="roundRect">
            <a:avLst/>
          </a:prstGeom>
          <a:solidFill>
            <a:srgbClr val="0B1637"/>
          </a:solidFill>
          <a:ln w="12700">
            <a:solidFill>
              <a:srgbClr val="28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194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u="sng">
                <a:solidFill>
                  <a:srgbClr val="91F0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9C3D7"/>
                </a:solidFill>
                <a:latin typeface="Aptos"/>
              </a:rPr>
              <a:t>I want to 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₹60,000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for a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7043" y="3724248"/>
            <a:ext cx="2194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u="sng">
                <a:solidFill>
                  <a:srgbClr val="B9C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₹20,751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864608"/>
            <a:ext cx="2148840" cy="329184"/>
          </a:xfrm>
          <a:prstGeom prst="roundRect">
            <a:avLst/>
          </a:prstGeom>
          <a:solidFill>
            <a:srgbClr val="274C40"/>
          </a:solidFill>
          <a:ln w="12700">
            <a:solidFill>
              <a:srgbClr val="274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857024"/>
            <a:ext cx="21488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u="sng">
                <a:solidFill>
                  <a:srgbClr val="91F0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“Balance ≠ affordability”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325880"/>
            <a:ext cx="3886200" cy="443484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41648" y="1627632"/>
            <a:ext cx="3200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u="sng">
                <a:solidFill>
                  <a:srgbClr val="171F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2148840"/>
            <a:ext cx="347472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1648" y="2167128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DA059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167128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1F31"/>
                </a:solidFill>
                <a:latin typeface="Aptos"/>
              </a:rPr>
              <a:t>Upcoming rent / EMIs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2752344"/>
            <a:ext cx="347472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41648" y="2770632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DA059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770632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1F31"/>
                </a:solidFill>
                <a:latin typeface="Aptos"/>
              </a:rPr>
              <a:t>Emergency liquidity floor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3355848"/>
            <a:ext cx="347472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1648" y="3374136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DA059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374136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1F31"/>
                </a:solidFill>
                <a:latin typeface="Aptos"/>
              </a:rPr>
              <a:t>Existing SIP / goal commitments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41648" y="3959352"/>
            <a:ext cx="347472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41648" y="3977639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DA059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977639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1F31"/>
                </a:solidFill>
                <a:latin typeface="Aptos"/>
              </a:rPr>
              <a:t>Outstanding high-cost debt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41648" y="4562856"/>
            <a:ext cx="347472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41648" y="4581144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DA059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581144"/>
            <a:ext cx="2697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71F31"/>
                </a:solidFill>
                <a:latin typeface="Aptos"/>
              </a:rPr>
              <a:t>30–90 day cash-flow forecast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1325880"/>
            <a:ext cx="35661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1627632"/>
            <a:ext cx="29260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u="sng">
                <a:solidFill>
                  <a:srgbClr val="1DA059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20574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BE3A3A"/>
                </a:solidFill>
                <a:latin typeface="Aptos"/>
              </a:rPr>
              <a:t>Not affordable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78892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u="sng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True affordability capacity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09067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BE3A3A"/>
                </a:solidFill>
                <a:latin typeface="Aptos"/>
              </a:rPr>
              <a:t>− ₹43,748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8404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u="sng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Goal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1605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71F31"/>
                </a:solidFill>
                <a:latin typeface="Aptos"/>
              </a:rPr>
              <a:t>Emergency fund delayed
by ~8.5 months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47888" y="5074920"/>
            <a:ext cx="2240280" cy="329184"/>
          </a:xfrm>
          <a:prstGeom prst="roundRect">
            <a:avLst/>
          </a:prstGeom>
          <a:solidFill>
            <a:srgbClr val="E1F7EB"/>
          </a:solidFill>
          <a:ln w="12700">
            <a:solidFill>
              <a:srgbClr val="E1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47888" y="5093207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DA059"/>
                </a:solidFill>
                <a:latin typeface="Aptos"/>
              </a:rPr>
              <a:t>RECOMMEND: SAVE FIRST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8B510-2413-7C86-9F8B-BC215D5C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90" y="183822"/>
            <a:ext cx="10950315" cy="1014516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 Afford This? …….Your Bank Balance Doesn't Tell the Full Story.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72213-3740-B3A7-D8BF-02F675373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916774"/>
            <a:ext cx="8686800" cy="1941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box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wants a ₹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60,000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phone Current balance: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₹80,000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 affordable: -But Pay2Grow checks: Upcoming EMI Rent &amp; bills Emergency-fund target Existing SIP Expected month-end cash flow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Result:- “You can technically afford it — but buying it now could delay your emergency-fund goal.”  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WAIT</a:t>
            </a: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SAVE</a:t>
            </a:r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2C677-6DDA-5A5B-582E-EF840790E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553" y="846138"/>
            <a:ext cx="2949447" cy="5828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05ACD9-4BA4-EBA1-4EA8-06BF758E4E9C}"/>
              </a:ext>
            </a:extLst>
          </p:cNvPr>
          <p:cNvSpPr txBox="1"/>
          <p:nvPr/>
        </p:nvSpPr>
        <p:spPr>
          <a:xfrm>
            <a:off x="2267263" y="1279586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Bigger Picture</a:t>
            </a:r>
            <a:endParaRPr lang="en-IN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CC3C45-91C3-E19B-A96F-D8C45B10B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425" y="1741251"/>
            <a:ext cx="2717553" cy="25392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5FA0DD-B21E-2B27-44ED-CB6097464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3" y="1767374"/>
            <a:ext cx="4500439" cy="22609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ECC74D-6A89-FFA4-354E-3A89A8A32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489" y="1767374"/>
            <a:ext cx="2264193" cy="234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18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9665" y="132588"/>
            <a:ext cx="109728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71F31"/>
                </a:solidFill>
                <a:latin typeface="Aptos"/>
              </a:rPr>
              <a:t>Technical architecture</a:t>
            </a:r>
            <a:endParaRPr lang="en-US" sz="2800" b="1" dirty="0">
              <a:solidFill>
                <a:srgbClr val="171F31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D</a:t>
            </a:r>
            <a:r>
              <a:rPr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eterministic money, conversational AI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F3DB53-8089-CF5C-8598-899E7229EEA1}"/>
              </a:ext>
            </a:extLst>
          </p:cNvPr>
          <p:cNvSpPr txBox="1"/>
          <p:nvPr/>
        </p:nvSpPr>
        <p:spPr>
          <a:xfrm>
            <a:off x="129665" y="1030072"/>
            <a:ext cx="8894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1800" dirty="0">
                <a:solidFill>
                  <a:schemeClr val="tx1"/>
                </a:solidFill>
              </a:rPr>
              <a:t>AI helps understand your data and explain results. Our engine calculates the money</a:t>
            </a:r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A316BE5-48E2-35B2-DDB5-FE7D01DDB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523" y="6136562"/>
            <a:ext cx="8894414" cy="58884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C5C02D8-801B-DB3A-82CA-67673F702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43" y="1350649"/>
            <a:ext cx="11707318" cy="447727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FF67A3F-F07D-435E-E78D-417470BAE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429" y="198358"/>
            <a:ext cx="3572374" cy="11145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3258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71F31"/>
                </a:solidFill>
                <a:latin typeface="Aptos"/>
              </a:rPr>
              <a:t>Why this is different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A7C893-0B62-7C98-A310-1DA155B4B824}"/>
              </a:ext>
            </a:extLst>
          </p:cNvPr>
          <p:cNvSpPr txBox="1"/>
          <p:nvPr/>
        </p:nvSpPr>
        <p:spPr>
          <a:xfrm>
            <a:off x="0" y="568212"/>
            <a:ext cx="70721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Existing finance apps miss the moment that matters</a:t>
            </a:r>
            <a:endParaRPr lang="en-IN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D525BC1-A7E1-4D78-F9DE-2B23D7A82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718" y="132588"/>
            <a:ext cx="3900678" cy="163214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F45A36B-5BA2-E2D9-9728-53F08975D439}"/>
              </a:ext>
            </a:extLst>
          </p:cNvPr>
          <p:cNvSpPr txBox="1"/>
          <p:nvPr/>
        </p:nvSpPr>
        <p:spPr>
          <a:xfrm>
            <a:off x="0" y="1410791"/>
            <a:ext cx="80497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Most apps lock backward or focus on investments. No one answers: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“Can I afford this right now without hurting my future?”</a:t>
            </a:r>
            <a:endParaRPr lang="en-I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5D547EE-0513-E041-B273-AE58AEF3F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34" y="2118677"/>
            <a:ext cx="10468131" cy="445239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D463AF4-6BC3-AA59-8AC9-61357ED8CC50}"/>
              </a:ext>
            </a:extLst>
          </p:cNvPr>
          <p:cNvSpPr txBox="1"/>
          <p:nvPr/>
        </p:nvSpPr>
        <p:spPr>
          <a:xfrm>
            <a:off x="3097967" y="6401992"/>
            <a:ext cx="5996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Pay2Grow sits between “I want it” and “ I can safely afford it.”</a:t>
            </a:r>
            <a:endParaRPr lang="en-IN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2F28EBC-5788-E1F8-12A3-4D27F7B71692}"/>
              </a:ext>
            </a:extLst>
          </p:cNvPr>
          <p:cNvSpPr txBox="1"/>
          <p:nvPr/>
        </p:nvSpPr>
        <p:spPr>
          <a:xfrm>
            <a:off x="182880" y="132588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71F31"/>
                </a:solidFill>
                <a:latin typeface="Aptos"/>
              </a:rPr>
              <a:t>How Pay2Grow Makes A Decision</a:t>
            </a:r>
            <a:endParaRPr sz="2800" b="1" dirty="0">
              <a:solidFill>
                <a:srgbClr val="171F31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EAD874-E464-3506-3211-D9D4703557D4}"/>
              </a:ext>
            </a:extLst>
          </p:cNvPr>
          <p:cNvSpPr txBox="1"/>
          <p:nvPr/>
        </p:nvSpPr>
        <p:spPr>
          <a:xfrm>
            <a:off x="182880" y="655808"/>
            <a:ext cx="8001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From intent to impact – our 4-step decision engine.</a:t>
            </a:r>
            <a:endParaRPr lang="en-IN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B30F74-DA0E-5F45-088F-82F5708103D5}"/>
              </a:ext>
            </a:extLst>
          </p:cNvPr>
          <p:cNvSpPr txBox="1"/>
          <p:nvPr/>
        </p:nvSpPr>
        <p:spPr>
          <a:xfrm>
            <a:off x="182880" y="1098280"/>
            <a:ext cx="9335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don’t just check your balance. We calculate the </a:t>
            </a:r>
            <a:r>
              <a:rPr lang="en-US" dirty="0">
                <a:solidFill>
                  <a:srgbClr val="FF0000"/>
                </a:solidFill>
              </a:rPr>
              <a:t>real impact</a:t>
            </a:r>
            <a:r>
              <a:rPr lang="en-US" dirty="0"/>
              <a:t> of your choice on your future</a:t>
            </a:r>
            <a:endParaRPr lang="en-IN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AA30ED6-EEDF-706A-38C1-C24A39F44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84" y="1379070"/>
            <a:ext cx="11081230" cy="493581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9E40FFC-03C6-EE97-D808-DDA87FF90C56}"/>
              </a:ext>
            </a:extLst>
          </p:cNvPr>
          <p:cNvSpPr txBox="1"/>
          <p:nvPr/>
        </p:nvSpPr>
        <p:spPr>
          <a:xfrm>
            <a:off x="3666968" y="6263747"/>
            <a:ext cx="4858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Pay2Grow doesn’t ask “</a:t>
            </a:r>
            <a:r>
              <a:rPr lang="en-US" dirty="0">
                <a:solidFill>
                  <a:srgbClr val="C00000"/>
                </a:solidFill>
              </a:rPr>
              <a:t>Can you pay?</a:t>
            </a:r>
            <a:r>
              <a:rPr lang="en-US" dirty="0"/>
              <a:t>”</a:t>
            </a:r>
          </a:p>
          <a:p>
            <a:r>
              <a:rPr lang="en-US" dirty="0"/>
              <a:t>It asks “</a:t>
            </a:r>
            <a:r>
              <a:rPr lang="en-US" dirty="0">
                <a:solidFill>
                  <a:schemeClr val="tx2"/>
                </a:solidFill>
              </a:rPr>
              <a:t>Can you safely afford the consequences?</a:t>
            </a:r>
            <a:r>
              <a:rPr lang="en-US" dirty="0"/>
              <a:t>”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F9D7E8-2C71-666C-642B-667E682BC479}"/>
              </a:ext>
            </a:extLst>
          </p:cNvPr>
          <p:cNvSpPr txBox="1"/>
          <p:nvPr/>
        </p:nvSpPr>
        <p:spPr>
          <a:xfrm rot="8536950">
            <a:off x="3148684" y="6294525"/>
            <a:ext cx="6640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⭐</a:t>
            </a:r>
            <a:endParaRPr lang="en-IN" sz="32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1F8B913-6806-A914-9D1C-322177F11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029" y="64447"/>
            <a:ext cx="3572374" cy="11145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0020" y="132588"/>
            <a:ext cx="678942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71F31"/>
                </a:solidFill>
                <a:latin typeface="Aptos"/>
              </a:rPr>
              <a:t>Who pays? </a:t>
            </a:r>
            <a:endParaRPr lang="en-US" sz="2800" b="1" dirty="0">
              <a:solidFill>
                <a:srgbClr val="171F31"/>
              </a:solidFill>
              <a:latin typeface="Aptos"/>
            </a:endParaRPr>
          </a:p>
          <a:p>
            <a:pPr algn="l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Our first users. Our initial revenue </a:t>
            </a:r>
            <a:endParaRPr sz="3200" b="1" dirty="0">
              <a:solidFill>
                <a:schemeClr val="accent1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A0011D-36C8-8340-8773-B3AC7B1BFE57}"/>
              </a:ext>
            </a:extLst>
          </p:cNvPr>
          <p:cNvSpPr txBox="1"/>
          <p:nvPr/>
        </p:nvSpPr>
        <p:spPr>
          <a:xfrm>
            <a:off x="182880" y="1234474"/>
            <a:ext cx="8549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 start with a clearly defined user segment that feels the pain today and is ready to pay for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clarity and confidence</a:t>
            </a:r>
            <a:r>
              <a:rPr lang="en-US" sz="2000" dirty="0"/>
              <a:t>. </a:t>
            </a:r>
            <a:endParaRPr lang="en-IN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44AC549-4F43-A112-B85B-BDEC63DC6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954" y="1746742"/>
            <a:ext cx="3593323" cy="40572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36AF7A-9EA3-ACAF-7B0A-6C6BC272F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417" y="1883865"/>
            <a:ext cx="3410442" cy="398349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8FAB090-09DD-6659-D9F7-E9187050C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950626"/>
            <a:ext cx="3410442" cy="39167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3B9D8CC-0D81-8099-6676-D1E5C54EFE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" y="5663755"/>
            <a:ext cx="11743990" cy="106165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194347A-5DF9-F5D2-58C4-CFF1DDE4BF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5429" y="268976"/>
            <a:ext cx="3572374" cy="11145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9242-4832-FF38-7E5F-F5A222CB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09FAF1-03B1-9118-803F-D75D951E9C7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10A36-D05D-E142-FF1D-0DB427E59A28}"/>
              </a:ext>
            </a:extLst>
          </p:cNvPr>
          <p:cNvSpPr txBox="1"/>
          <p:nvPr/>
        </p:nvSpPr>
        <p:spPr>
          <a:xfrm>
            <a:off x="129665" y="132588"/>
            <a:ext cx="109728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71F31"/>
                </a:solidFill>
                <a:latin typeface="Aptos"/>
              </a:rPr>
              <a:t>Execution roadmap</a:t>
            </a:r>
            <a:endParaRPr lang="en-US" sz="2800" b="1" dirty="0">
              <a:solidFill>
                <a:srgbClr val="171F31"/>
              </a:solidFill>
              <a:latin typeface="Aptos"/>
            </a:endParaRPr>
          </a:p>
          <a:p>
            <a:pPr algn="l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A clear path to build, validate and scale.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D97EC7-D7FD-2B5D-D877-DB1559DD259A}"/>
              </a:ext>
            </a:extLst>
          </p:cNvPr>
          <p:cNvSpPr txBox="1"/>
          <p:nvPr/>
        </p:nvSpPr>
        <p:spPr>
          <a:xfrm>
            <a:off x="167890" y="1145132"/>
            <a:ext cx="61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will process in three focused phases to deliver a reliable and impactful financial decision engine.</a:t>
            </a:r>
            <a:endParaRPr lang="en-IN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2BF76C8-6539-713A-3CE4-502C2FC20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429" y="578864"/>
            <a:ext cx="3572374" cy="111458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FD539FF-AB5C-FDD8-E302-EA290E7C7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5" y="1911455"/>
            <a:ext cx="11858340" cy="315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73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29665" y="132588"/>
            <a:ext cx="10972800" cy="126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71F31"/>
                </a:solidFill>
                <a:latin typeface="Aptos"/>
              </a:rPr>
              <a:t>Kill Risks &amp; Our Mitigation </a:t>
            </a:r>
          </a:p>
          <a:p>
            <a:pPr algn="l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We Identify risks early.</a:t>
            </a:r>
          </a:p>
          <a:p>
            <a:pPr algn="l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We mitigate them by design.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Aptos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603DFA5-D532-6B50-9E36-8560DA873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429" y="206239"/>
            <a:ext cx="3572374" cy="111458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4A036FF-BB83-EC5F-BC09-DE6843AE3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49" y="1596963"/>
            <a:ext cx="8648351" cy="345805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C4E3D12-B3B9-CD1E-0FC5-70D363CC1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826" y="1842877"/>
            <a:ext cx="3600953" cy="3667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21B9-B0D8-CDA4-28F5-E22D42EDE8FE}"/>
              </a:ext>
            </a:extLst>
          </p:cNvPr>
          <p:cNvSpPr txBox="1"/>
          <p:nvPr/>
        </p:nvSpPr>
        <p:spPr>
          <a:xfrm>
            <a:off x="129665" y="132588"/>
            <a:ext cx="10972800" cy="126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71F31"/>
                </a:solidFill>
                <a:latin typeface="Aptos"/>
              </a:rPr>
              <a:t>The Future We are Building </a:t>
            </a:r>
          </a:p>
          <a:p>
            <a:pPr algn="l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Financial clarity in every decision.</a:t>
            </a:r>
          </a:p>
          <a:p>
            <a:pPr algn="l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A strong tomorrow for everyone.</a:t>
            </a:r>
            <a:endParaRPr sz="2400" b="1" dirty="0">
              <a:solidFill>
                <a:schemeClr val="accent1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EDD954-D810-D884-349D-E34466C02258}"/>
              </a:ext>
            </a:extLst>
          </p:cNvPr>
          <p:cNvSpPr txBox="1"/>
          <p:nvPr/>
        </p:nvSpPr>
        <p:spPr>
          <a:xfrm>
            <a:off x="167890" y="1569673"/>
            <a:ext cx="61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Pay2Grow empowers people to make confident financial decision in the moment – without regret later.</a:t>
            </a:r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31229AA-0F62-FFBB-D6F9-829BDB23B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186" y="132588"/>
            <a:ext cx="4950954" cy="225861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CF98D6-BF28-730A-0909-C83A0C563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5" y="2391205"/>
            <a:ext cx="11964140" cy="2600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2549A7-5C75-CE05-DABF-0D27746D963D}"/>
              </a:ext>
            </a:extLst>
          </p:cNvPr>
          <p:cNvSpPr txBox="1"/>
          <p:nvPr/>
        </p:nvSpPr>
        <p:spPr>
          <a:xfrm>
            <a:off x="1854658" y="5553290"/>
            <a:ext cx="2764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💙Thank You </a:t>
            </a:r>
            <a:endParaRPr lang="en-IN" sz="36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5358E-F991-A400-C266-06925A5EDF87}"/>
              </a:ext>
            </a:extLst>
          </p:cNvPr>
          <p:cNvSpPr txBox="1"/>
          <p:nvPr/>
        </p:nvSpPr>
        <p:spPr>
          <a:xfrm>
            <a:off x="5570984" y="5530239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Don’t just Pay. </a:t>
            </a:r>
            <a:r>
              <a:rPr lang="en-US" sz="3600" dirty="0">
                <a:solidFill>
                  <a:srgbClr val="00B050"/>
                </a:solidFill>
              </a:rPr>
              <a:t>know the impact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949</Words>
  <Application>Microsoft Office PowerPoint</Application>
  <PresentationFormat>Widescreen</PresentationFormat>
  <Paragraphs>133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Can I Afford This? …….Your Bank Balance Doesn't Tell the Full Story.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Lakshya 2411</dc:creator>
  <cp:keywords/>
  <dc:description>generated using python-pptx</dc:description>
  <cp:lastModifiedBy>Lakshya 2411</cp:lastModifiedBy>
  <cp:revision>17</cp:revision>
  <dcterms:created xsi:type="dcterms:W3CDTF">2013-01-27T09:14:16Z</dcterms:created>
  <dcterms:modified xsi:type="dcterms:W3CDTF">2026-08-25T17:22:05Z</dcterms:modified>
  <cp:category/>
</cp:coreProperties>
</file>